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a1fca27f54165" /><Relationship Type="http://schemas.openxmlformats.org/officeDocument/2006/relationships/extended-properties" Target="/docProps/app.xml" Id="Rc5c592eedd5b4eed" /><Relationship Type="http://schemas.openxmlformats.org/officeDocument/2006/relationships/officeDocument" Target="/ppt/presentation.xml" Id="R5cb21e35a1a9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b8dd390cd64b18"/>
  </p:sldMasterIdLst>
  <p:notesMasterIdLst>
    <p:notesMasterId xmlns:r="http://schemas.openxmlformats.org/officeDocument/2006/relationships" r:id="R4c5eb033d7864101"/>
  </p:notesMasterIdLst>
  <p:sldIdLst>
    <p:sldId xmlns:r="http://schemas.openxmlformats.org/officeDocument/2006/relationships" id="256" r:id="R4872ac47a6f84c84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76e0b8cbdf4776" /><Relationship Type="http://schemas.openxmlformats.org/officeDocument/2006/relationships/slideMaster" Target="/ppt/slideMasters/slideMaster1.xml" Id="R5cb8dd390cd64b18" /><Relationship Type="http://schemas.openxmlformats.org/officeDocument/2006/relationships/notesMaster" Target="/ppt/notesMasters/notesMaster1.xml" Id="R4c5eb033d7864101" /><Relationship Type="http://schemas.openxmlformats.org/officeDocument/2006/relationships/presProps" Target="/ppt/presProps.xml" Id="R8ebcdf85c0124295" /><Relationship Type="http://schemas.openxmlformats.org/officeDocument/2006/relationships/tableStyles" Target="/ppt/tableStyles.xml" Id="R46c697bfcb1c4810" /><Relationship Type="http://schemas.openxmlformats.org/officeDocument/2006/relationships/slide" Target="/ppt/slides/slide1.xml" Id="R4872ac47a6f8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3617d18470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9384429724b3f" /><Relationship Type="http://schemas.openxmlformats.org/officeDocument/2006/relationships/notesMaster" Target="/ppt/notesMasters/notesMaster1.xml" Id="Rb1954e0298fe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f4ae252b4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5130bc86f4b4b" /><Relationship Type="http://schemas.openxmlformats.org/officeDocument/2006/relationships/slideLayout" Target="/ppt/slideLayouts/slideLayout1.xml" Id="R0a7593858e9e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7593858e9e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8f41d0334855" /><Relationship Type="http://schemas.openxmlformats.org/officeDocument/2006/relationships/notesSlide" Target="/ppt/notesSlides/notesSlide1.xml" Id="R0857ed8c24f5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F7DC9-BBFE-42C5-B181-EB3D0F31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B4D0A"/>
                </a:solidFill>
              </a:defRPr>
            </a:pPr>
            <a:r>
              <a:rPr sz="3525" b="1" i="0">
                <a:solidFill>
                  <a:srgbClr val="FB4D0A"/>
                </a:solidFill>
              </a:rPr>
              <a:t>EXL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B37EB-9391-4FE2-BC63-974B0C8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5245A"/>
                </a:solidFill>
              </a:defRPr>
            </a:pPr>
            <a:r>
              <a:rPr sz="3150" b="1" i="0">
                <a:solidFill>
                  <a:srgbClr val="05245A"/>
                </a:solidFill>
              </a:rPr>
              <a:t>INSURANCE SLIP MODELING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2A877-63D6-4CC6-9F8D-17E230A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8763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B6475"/>
                </a:solidFill>
              </a:defRPr>
            </a:pPr>
            <a:r>
              <a:rPr sz="1500" b="0" i="0">
                <a:solidFill>
                  <a:srgbClr val="5B6475"/>
                </a:solidFill>
              </a:rPr>
              <a:t>AI-powered extraction of key insurance slip fields with high accuracy, transparency and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58A0F-1C75-4938-A773-54F747CD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2571750" cy="547687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8D2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AD391-038A-4328-A702-D91452FE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1261C-DAAF-4620-80C1-D003F18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430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917DF-3C0C-4869-84B5-24B718B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9075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0" i="0">
                <a:solidFill>
                  <a:srgbClr val="071B46"/>
                </a:solidFill>
              </a:defRPr>
            </a:pPr>
            <a:r>
              <a:rPr sz="4050" b="0" i="0">
                <a:solidFill>
                  <a:srgbClr val="071B46"/>
                </a:solidFill>
              </a:rPr>
              <a:t>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A6510-EC8B-4A76-910D-CEB83D40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Azure Document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9F7E3-7950-4B08-99FF-AEEA8250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3786F-345D-4129-89E9-CBFCBA76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3DF76-3A10-42C2-9A47-DD370AA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Prebuilt-layout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5596E-5D95-4791-B471-7A23600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3B711-8C7D-424D-88E3-33EED6EF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Markdown output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(headings, tables, lists)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950CE-52CC-4B3F-8ADB-6A5C58E4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D51AB-E63E-4B1C-8ACB-38164ED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Optional OCR for scanned /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dense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AD358-1C74-4778-B7B4-97449A0D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CAD98-6F1F-449B-B1A6-061A2E3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Preserves structure &amp;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D3213-7E05-49CB-9CBF-89B8EEDF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C8475-3F45-44AF-A410-AF84C8E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.doc / .docx auto-converted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to PDF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89437-A513-4D5C-8841-10B78DD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0">
            <a:solidFill>
              <a:srgbClr val="0524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2EDA0-0C8B-495E-A62D-7191541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52550"/>
            <a:ext cx="2714625" cy="547687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FFB5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17D53-3E9F-4161-9E3F-2ACCFC8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ECF74-BB69-4CEB-9091-DD76CAD9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43050"/>
            <a:ext cx="1838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HIERARCHICAL CHUNKING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0050A-2BCA-4E9C-8FEA-A08B0FD5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19075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0" i="0">
                <a:solidFill>
                  <a:srgbClr val="FB4D0A"/>
                </a:solidFill>
              </a:defRPr>
            </a:pPr>
            <a:r>
              <a:rPr sz="4050" b="0" i="0">
                <a:solidFill>
                  <a:srgbClr val="FB4D0A"/>
                </a:solidFill>
              </a:rPr>
              <a:t>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9E780-6D61-43FA-9FA3-84B00F7C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28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E60EA-A448-4847-BBC9-EA4CCD3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One parent chunk per 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79967-2CB9-4EA5-A498-BC1EA22E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575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CBA30-D420-43BD-BC89-0868E7F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Sections from headings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(paragraph roles + heuristics)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BEF58-449B-4ACB-A5D1-63C25D25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3FA96-CC4D-4209-AAFE-7EBF9E2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955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Large sections split with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small overlap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0003BA-97F7-461B-9DF4-B5F45A6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62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D0F2A-34A1-40BE-A05F-E97FA510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Tables / rows chunked only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when relevant (limits, perils,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deductibles)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3A74B-EAA8-49D1-A1D7-E0AC01E2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149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04367F-39F5-4BBF-AB6F-221F519E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Key-value chunks at high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priority; exact duplicates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removed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EA7E4D-7C3A-48DC-AE56-F0280CB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2412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0">
            <a:solidFill>
              <a:srgbClr val="0524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885755-8A1F-49D7-B6CB-A000757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52550"/>
            <a:ext cx="2524125" cy="547687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8D2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45213F-3A25-4B7A-8508-0721F47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AC029-6055-4C00-B6D9-6304100D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43050"/>
            <a:ext cx="1647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PER-FIELD RETRIEVAL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018F12-13FF-4A74-91A7-E0BD3B8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88" y="219075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0" i="0">
                <a:solidFill>
                  <a:srgbClr val="071B46"/>
                </a:solidFill>
              </a:defRPr>
            </a:pPr>
            <a:r>
              <a:rPr sz="4050" b="0" i="0">
                <a:solidFill>
                  <a:srgbClr val="071B46"/>
                </a:solidFill>
              </a:rPr>
              <a:t>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457239-0911-4027-9FB4-919C7E3A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0A9BF-9D61-402E-BBE5-276093FF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3847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Field-specific keyword expansion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(FIELD_RETRIEVAL_KEYWORDS)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48CEAA-3673-4DD4-9518-3BE6F84C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814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1CEDB3-6E43-44ED-A8B1-2116F4B9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FAISS similarity search over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Azure OpenAI embeddings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C05D77-5701-4922-89CF-F7DECB84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33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FB0406-2ACF-493D-9CB0-42324DAD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4337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Chunk-type priority ranking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(key_value &gt; section &gt; table)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C32841-59B4-49E9-ADB4-F87751B4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86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46"/>
                </a:solidFill>
              </a:defRPr>
            </a:pPr>
            <a:r>
              <a:rPr sz="1275" b="1" i="0">
                <a:solidFill>
                  <a:srgbClr val="071B46"/>
                </a:solidFill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4620A0-7504-4D8E-8F68-91107E6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Top-k chunks assembled into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LLM context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F2B92-0082-46DF-AAEC-056CE51D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0">
            <a:solidFill>
              <a:srgbClr val="0524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9586C5-EF02-4348-9EB5-2D84EC1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52550"/>
            <a:ext cx="2714625" cy="547687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FFB58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D2B5AC-F868-42DF-91A5-4697872E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5C1D90-D1DF-4E3C-BE53-C0F803C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43050"/>
            <a:ext cx="1838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FIELD GENERATION &amp;</a:t>
            </a:r>
          </a:p>
          <a:p xmlns:a="http://schemas.openxmlformats.org/drawingml/2006/main">
            <a:pPr algn="ctr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GROUNDING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357A7E-DC2A-4AE7-BB5D-045D2C4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219075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0" i="0">
                <a:solidFill>
                  <a:srgbClr val="FB4D0A"/>
                </a:solidFill>
              </a:defRPr>
            </a:pPr>
            <a:r>
              <a:rPr sz="4050" b="0" i="0">
                <a:solidFill>
                  <a:srgbClr val="FB4D0A"/>
                </a:solidFill>
              </a:rPr>
              <a:t>☊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7D31C2-2B4D-4E50-90DF-052BA80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28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DF4DED-9CE3-4478-AEE6-4F12E99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384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LLM extracts value + evidence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+ chunk_id + confidence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86E139-A1C0-4F7C-81FE-C99695C4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814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225F8D-596E-4913-A898-B9190F0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9092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Deterministic validators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(insured name, Limit One min.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confidence)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173F1C-2C23-4AE1-96F1-8697B274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33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49C01A-BB77-4BCA-B485-DA5B0CC0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433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Regex fallback: scan inception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date when LLM is empty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9F53F9-274B-4916-97D4-564A4A12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86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38BB24-5949-49A5-9508-C026EB4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9582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Derived fields: expiration =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inception + 364d; limit two =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limit one × signed line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5AB05C-80B8-4749-A980-4B292319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38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0A4E40-7E7E-423B-8B70-46B7923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482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Static rules: sub limit type = B;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perils mapping (+PTR or terrorism / TRIA)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130260-FD85-43EF-A1C7-35B8888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912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B4D0A"/>
                </a:solidFill>
              </a:defRPr>
            </a:pPr>
            <a:r>
              <a:rPr sz="1275" b="1" i="0">
                <a:solidFill>
                  <a:srgbClr val="FB4D0A"/>
                </a:solidFill>
              </a:rPr>
              <a:t>•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F7426B-DA5A-4A01-B226-588BD58F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80072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Bounding-box union → precise</a:t>
            </a:r>
          </a:p>
          <a:p xmlns:a="http://schemas.openxmlformats.org/drawingml/2006/main">
            <a:pPr algn="l">
              <a:defRPr sz="1050" b="0" i="0">
                <a:solidFill>
                  <a:srgbClr val="071B46"/>
                </a:solidFill>
              </a:defRPr>
            </a:pPr>
            <a:r>
              <a:rPr sz="1050" b="0" i="0">
                <a:solidFill>
                  <a:srgbClr val="071B46"/>
                </a:solidFill>
              </a:rPr>
              <a:t>highlight on page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B42695-E909-4087-85EE-3F83BC4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352550"/>
            <a:ext cx="2266950" cy="5476875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2DAC15-ECA4-4AF7-97FC-D6EECF68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049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9525">
            <a:solidFill>
              <a:srgbClr val="05245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5CCCB68-E56C-4A1A-9AE5-E43C4851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6002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KEY FIELDS EXTRACTED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5E861A-3B99-49B3-9B40-6B5CB3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171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3C6A4A-5714-49CF-AA1E-31DB7E0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1907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Insured Name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E503E5-83B4-4D73-BB97-D567383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0032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4D9610B-20E3-4B81-8909-6290B334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24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27D9ED-F758-4137-9B5D-2BA9360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7432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Inception Date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8A9859-99AA-44DB-B9BD-DC7363E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15277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B751A5-9EBF-4325-A89B-BD9A1E31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76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□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B78A8D-DF5D-4D18-A330-9612E810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295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Expiration Date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9BC80A-1A77-4520-8F2C-E113DBF6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70522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027989-1A57-431F-AC9F-1E6D4D8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829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$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6A1BCD-C96A-4AE7-B70D-70EEDC02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Currency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7165B3-39FD-473F-A7DD-977EA75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25767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E6C9F14-E05A-4E1A-BE84-7D5547B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81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A1FDAB-FD68-4E6A-8216-474EAAB1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4005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Perils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D42E70-A3CB-4A33-BEA4-A78D8C6C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81012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361C108-052D-41A9-B614-57B5507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33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▱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F6B57FD-2823-4FAF-BDA5-E3CCF08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49530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Layer Perils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CCA4C6C-2893-452F-A4AF-0493ED97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362575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639379B-4EC9-435E-9797-DB9466F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514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▥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F662A8-1C6D-4EFF-8BAD-0EC47E84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5340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Limit One</a:t>
            </a:r>
          </a:p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(Limit of Liability / TIV)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76B5A18-77D2-487F-A5A0-52EB85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43600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9D7B24-8B42-456D-B70A-FC53971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674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755F5BC-2160-443B-9337-8E22230B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0864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Limit Two (Signed %)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1282CB9-1C7A-468E-9A60-58257C6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496050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75B175-7F74-4664-B0DB-CC77586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600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1B46"/>
                </a:solidFill>
              </a:defRPr>
            </a:pPr>
            <a:r>
              <a:rPr sz="1875" b="0" i="0">
                <a:solidFill>
                  <a:srgbClr val="071B46"/>
                </a:solidFill>
              </a:rPr>
              <a:t>◇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C34F39-682B-4B57-99CB-E16A47C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66198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Sub Limit Type</a:t>
            </a:r>
          </a:p>
          <a:p xmlns:a="http://schemas.openxmlformats.org/drawingml/2006/main">
            <a:pPr algn="l">
              <a:defRPr sz="1125" b="0" i="0">
                <a:solidFill>
                  <a:srgbClr val="071B46"/>
                </a:solidFill>
              </a:defRPr>
            </a:pPr>
            <a:r>
              <a:rPr sz="1125" b="0" i="0">
                <a:solidFill>
                  <a:srgbClr val="071B46"/>
                </a:solidFill>
              </a:rPr>
              <a:t>(Default: B)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339A13-9512-43A0-AA0A-AC39DCB3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029450"/>
            <a:ext cx="187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DCE4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891B9E-662B-4DCC-AE16-511FC420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905625"/>
            <a:ext cx="11239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245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90ABCD9-D6B0-473D-BFE6-0EE34A1E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905625"/>
            <a:ext cx="1143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45A"/>
          </a:solidFill>
          <a:ln xmlns:a="http://schemas.openxmlformats.org/drawingml/2006/main" w="9525">
            <a:solidFill>
              <a:srgbClr val="05245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5CA30D5-6B92-4893-8DC8-A478F98F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056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FFFFF"/>
                </a:solidFill>
              </a:defRPr>
            </a:pPr>
            <a:r>
              <a:rPr sz="2550" b="0" i="0">
                <a:solidFill>
                  <a:srgbClr val="FFFFFF"/>
                </a:solidFill>
              </a:rPr>
              <a:t>▧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C6C6E2-C5CF-4481-B8BD-0E1E6DD6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342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3E22FD-A49F-4A56-91EE-DDC73DBA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7240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4D0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05C2CC-09AB-4D37-996A-9EA0391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067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B4D0A"/>
                </a:solidFill>
              </a:defRPr>
            </a:pPr>
            <a:r>
              <a:rPr sz="2550" b="0" i="0">
                <a:solidFill>
                  <a:srgbClr val="FB4D0A"/>
                </a:solidFill>
              </a:rPr>
              <a:t>▧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D2CB0E-AD16-41A7-81B2-019EE4B1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7524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71B46"/>
                </a:solidFill>
              </a:defRPr>
            </a:pPr>
            <a:r>
              <a:rPr sz="975" b="0" i="0">
                <a:solidFill>
                  <a:srgbClr val="071B46"/>
                </a:solidFill>
              </a:rPr>
              <a:t>Extracted Field Value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D95D7D-DCAA-4D68-AF52-1D491A2B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124700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2FB3231-A21C-4DD5-B43D-3006B310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067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B4D0A"/>
                </a:solidFill>
              </a:defRPr>
            </a:pPr>
            <a:r>
              <a:rPr sz="2550" b="0" i="0">
                <a:solidFill>
                  <a:srgbClr val="FB4D0A"/>
                </a:solidFill>
              </a:rPr>
              <a:t>▧⌕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846936E-15CF-4ADE-926F-939960C5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524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71B46"/>
                </a:solidFill>
              </a:defRPr>
            </a:pPr>
            <a:r>
              <a:rPr sz="900" b="0" i="0">
                <a:solidFill>
                  <a:srgbClr val="071B46"/>
                </a:solidFill>
              </a:rPr>
              <a:t>Evidence</a:t>
            </a:r>
          </a:p>
          <a:p xmlns:a="http://schemas.openxmlformats.org/drawingml/2006/main">
            <a:pPr algn="ctr">
              <a:defRPr sz="900" b="0" i="0">
                <a:solidFill>
                  <a:srgbClr val="071B46"/>
                </a:solidFill>
              </a:defRPr>
            </a:pPr>
            <a:r>
              <a:rPr sz="900" b="0" i="0">
                <a:solidFill>
                  <a:srgbClr val="071B46"/>
                </a:solidFill>
              </a:rPr>
              <a:t>(Page, Chunk ID,</a:t>
            </a:r>
          </a:p>
          <a:p xmlns:a="http://schemas.openxmlformats.org/drawingml/2006/main">
            <a:pPr algn="ctr">
              <a:defRPr sz="900" b="0" i="0">
                <a:solidFill>
                  <a:srgbClr val="071B46"/>
                </a:solidFill>
              </a:defRPr>
            </a:pPr>
            <a:r>
              <a:rPr sz="900" b="0" i="0">
                <a:solidFill>
                  <a:srgbClr val="071B46"/>
                </a:solidFill>
              </a:rPr>
              <a:t>Snippet, Bounding Box)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FC362BC-2AA6-41A0-B44C-6B1822CA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124700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C65856-F90A-494D-8789-97AC294D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067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B4D0A"/>
                </a:solidFill>
              </a:defRPr>
            </a:pPr>
            <a:r>
              <a:rPr sz="2550" b="0" i="0">
                <a:solidFill>
                  <a:srgbClr val="FB4D0A"/>
                </a:solidFill>
              </a:rPr>
              <a:t>♢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64727E-BB8C-4534-BC75-6074963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524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71B46"/>
                </a:solidFill>
              </a:defRPr>
            </a:pPr>
            <a:r>
              <a:rPr sz="975" b="0" i="0">
                <a:solidFill>
                  <a:srgbClr val="071B46"/>
                </a:solidFill>
              </a:rPr>
              <a:t>Confidence Score</a:t>
            </a:r>
          </a:p>
          <a:p xmlns:a="http://schemas.openxmlformats.org/drawingml/2006/main">
            <a:pPr algn="ctr">
              <a:defRPr sz="975" b="0" i="0">
                <a:solidFill>
                  <a:srgbClr val="071B46"/>
                </a:solidFill>
              </a:defRPr>
            </a:pPr>
            <a:r>
              <a:rPr sz="975" b="0" i="0">
                <a:solidFill>
                  <a:srgbClr val="071B46"/>
                </a:solidFill>
              </a:rPr>
              <a:t>(Per Field)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B940ED-1833-4472-94EA-9E55866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7124700"/>
            <a:ext cx="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BF4BE9-8D6E-4C78-83E5-0C00A7D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675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B4D0A"/>
                </a:solidFill>
              </a:defRPr>
            </a:pPr>
            <a:r>
              <a:rPr sz="2550" b="0" i="0">
                <a:solidFill>
                  <a:srgbClr val="FB4D0A"/>
                </a:solidFill>
              </a:rPr>
              <a:t>↻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08CF16-2070-40FB-AC6F-8086619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75247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71B46"/>
                </a:solidFill>
              </a:defRPr>
            </a:pPr>
            <a:r>
              <a:rPr sz="975" b="0" i="0">
                <a:solidFill>
                  <a:srgbClr val="071B46"/>
                </a:solidFill>
              </a:rPr>
              <a:t>Idempotent Upsert</a:t>
            </a:r>
          </a:p>
          <a:p xmlns:a="http://schemas.openxmlformats.org/drawingml/2006/main">
            <a:pPr algn="ctr">
              <a:defRPr sz="975" b="0" i="0">
                <a:solidFill>
                  <a:srgbClr val="071B46"/>
                </a:solidFill>
              </a:defRPr>
            </a:pPr>
            <a:r>
              <a:rPr sz="975" b="0" i="0">
                <a:solidFill>
                  <a:srgbClr val="071B46"/>
                </a:solidFill>
              </a:rPr>
              <a:t>on Re-run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3B7A18F-C730-452D-AECF-AB72677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48675"/>
            <a:ext cx="1524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0A"/>
          </a:solidFill>
          <a:ln xmlns:a="http://schemas.openxmlformats.org/drawingml/2006/main" w="9525">
            <a:solidFill>
              <a:srgbClr val="FB4D0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F4E2B2A-9069-4D73-875A-1270930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9819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0078D4"/>
                </a:solidFill>
              </a:defRPr>
            </a:pPr>
            <a:r>
              <a:rPr sz="3150" b="0" i="0">
                <a:solidFill>
                  <a:srgbClr val="0078D4"/>
                </a:solidFill>
              </a:rPr>
              <a:t>A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A3C5107-4477-4508-940C-9D22E96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029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46"/>
                </a:solidFill>
              </a:defRPr>
            </a:pPr>
            <a:r>
              <a:rPr sz="1125" b="1" i="0">
                <a:solidFill>
                  <a:srgbClr val="071B46"/>
                </a:solidFill>
              </a:rPr>
              <a:t>Cloud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E4AFC91-07BA-44A6-90D1-3AB3E0B4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248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475"/>
                </a:solidFill>
              </a:defRPr>
            </a:pPr>
            <a:r>
              <a:rPr sz="975" b="0" i="0">
                <a:solidFill>
                  <a:srgbClr val="5B6475"/>
                </a:solidFill>
              </a:rPr>
              <a:t>Microsoft Azure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B737777-7258-4061-B5F1-EC85B264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9819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071B46"/>
                </a:solidFill>
              </a:defRPr>
            </a:pPr>
            <a:r>
              <a:rPr sz="2850" b="0" i="0">
                <a:solidFill>
                  <a:srgbClr val="071B46"/>
                </a:solidFill>
              </a:rPr>
              <a:t>◎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B8F722-6E01-4084-BAB3-B23EB91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029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46"/>
                </a:solidFill>
              </a:defRPr>
            </a:pPr>
            <a:r>
              <a:rPr sz="1125" b="1" i="0">
                <a:solidFill>
                  <a:srgbClr val="071B46"/>
                </a:solidFill>
              </a:rPr>
              <a:t>LLM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D694B1-9662-4EA7-9C9F-CF4865B8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248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475"/>
                </a:solidFill>
              </a:defRPr>
            </a:pPr>
            <a:r>
              <a:rPr sz="975" b="0" i="0">
                <a:solidFill>
                  <a:srgbClr val="5B6475"/>
                </a:solidFill>
              </a:rPr>
              <a:t>Azure OpenAI (GPT-4o)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9CD81A-808F-40EF-A32B-EFC02467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11530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9F2888-EDC2-4AE8-93E6-FBC42633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9819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071B46"/>
                </a:solidFill>
              </a:defRPr>
            </a:pPr>
            <a:r>
              <a:rPr sz="2850" b="0" i="0">
                <a:solidFill>
                  <a:srgbClr val="071B46"/>
                </a:solidFill>
              </a:rPr>
              <a:t>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1031930-C053-4B13-9FE5-2E8CECB7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029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46"/>
                </a:solidFill>
              </a:defRPr>
            </a:pPr>
            <a:r>
              <a:rPr sz="1125" b="1" i="0">
                <a:solidFill>
                  <a:srgbClr val="071B46"/>
                </a:solidFill>
              </a:rPr>
              <a:t>Embeddings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84A54F-4CBA-45E7-9576-1EBCAE2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248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475"/>
                </a:solidFill>
              </a:defRPr>
            </a:pPr>
            <a:r>
              <a:rPr sz="975" b="0" i="0">
                <a:solidFill>
                  <a:srgbClr val="5B6475"/>
                </a:solidFill>
              </a:rPr>
              <a:t>Azure OpenAI (text-embedding-3-large)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6940FB2-2049-4887-BEF8-5617EE4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11530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F6DBFEE-282B-4202-8280-4A4ADD4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9819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071B46"/>
                </a:solidFill>
              </a:defRPr>
            </a:pPr>
            <a:r>
              <a:rPr sz="2850" b="0" i="0">
                <a:solidFill>
                  <a:srgbClr val="071B46"/>
                </a:solidFill>
              </a:rPr>
              <a:t>⌕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19C2B01-FF13-4D78-A2F4-A2C1EE0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029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46"/>
                </a:solidFill>
              </a:defRPr>
            </a:pPr>
            <a:r>
              <a:rPr sz="1125" b="1" i="0">
                <a:solidFill>
                  <a:srgbClr val="071B46"/>
                </a:solidFill>
              </a:rPr>
              <a:t>Vector Store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C225725-1D6D-46B6-B752-EF0FC036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248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475"/>
                </a:solidFill>
              </a:defRPr>
            </a:pPr>
            <a:r>
              <a:rPr sz="975" b="0" i="0">
                <a:solidFill>
                  <a:srgbClr val="5B6475"/>
                </a:solidFill>
              </a:rPr>
              <a:t>FAISS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72B1B09-1FAB-44C7-B962-77B58A4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11530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2770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2026-07-30T15:02:07.4330000Z</dcterms:created>
  <dcterms:modified xsi:type="dcterms:W3CDTF">2026-07-30T15:02:07.4330000Z</dcterms:modified>
</coreProperties>
</file>