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837d02b2c24d48" /><Relationship Type="http://schemas.openxmlformats.org/officeDocument/2006/relationships/extended-properties" Target="/docProps/app.xml" Id="R0df7e44a03354208" /><Relationship Type="http://schemas.openxmlformats.org/officeDocument/2006/relationships/officeDocument" Target="/ppt/presentation.xml" Id="R4d8b48f315f542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7006ef2f924bda"/>
  </p:sldMasterIdLst>
  <p:notesMasterIdLst>
    <p:notesMasterId xmlns:r="http://schemas.openxmlformats.org/officeDocument/2006/relationships" r:id="R2c22672b5bb74642"/>
  </p:notesMasterIdLst>
  <p:sldIdLst>
    <p:sldId xmlns:r="http://schemas.openxmlformats.org/officeDocument/2006/relationships" id="256" r:id="Re4983ba64f47466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bae69e6aa14d53" /><Relationship Type="http://schemas.openxmlformats.org/officeDocument/2006/relationships/slideMaster" Target="/ppt/slideMasters/slideMaster1.xml" Id="Rfd7006ef2f924bda" /><Relationship Type="http://schemas.openxmlformats.org/officeDocument/2006/relationships/notesMaster" Target="/ppt/notesMasters/notesMaster1.xml" Id="R2c22672b5bb74642" /><Relationship Type="http://schemas.openxmlformats.org/officeDocument/2006/relationships/presProps" Target="/ppt/presProps.xml" Id="R8c23846541f342c2" /><Relationship Type="http://schemas.openxmlformats.org/officeDocument/2006/relationships/tableStyles" Target="/ppt/tableStyles.xml" Id="R7d9aa9f1f0c349b5" /><Relationship Type="http://schemas.openxmlformats.org/officeDocument/2006/relationships/slide" Target="/ppt/slides/slide1.xml" Id="Re4983ba64f4746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f79d70d47b41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e681e38d774f77" /><Relationship Type="http://schemas.openxmlformats.org/officeDocument/2006/relationships/notesMaster" Target="/ppt/notesMasters/notesMaster1.xml" Id="Reffe2f4175af43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6fba44ddb4b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261d946d3a456a" /><Relationship Type="http://schemas.openxmlformats.org/officeDocument/2006/relationships/slideLayout" Target="/ppt/slideLayouts/slideLayout1.xml" Id="R46eaef59d87c43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eaef59d87c43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bdff5de9a422b" /><Relationship Type="http://schemas.openxmlformats.org/officeDocument/2006/relationships/notesSlide" Target="/ppt/notesSlides/notesSlide1.xml" Id="R19e8108f70d940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478EA21-6B46-4869-8F11-B12B5745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953375"/>
            <a:ext cx="15240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F47"/>
          </a:solidFill>
          <a:ln xmlns:a="http://schemas.openxmlformats.org/drawingml/2006/main" w="9525">
            <a:solidFill>
              <a:srgbClr val="001F4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C0FF0-D49B-4DE3-BE25-40A5B090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81875"/>
            <a:ext cx="106680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49707-E8DF-4CB9-9E0A-F5659A56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7572375"/>
            <a:ext cx="4429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F47"/>
          </a:solidFill>
          <a:ln xmlns:a="http://schemas.openxmlformats.org/drawingml/2006/main" w="9525">
            <a:solidFill>
              <a:srgbClr val="001F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5700F-6D6B-4AC8-A551-B8435AE6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6850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B4D0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9D8BE-FCED-465B-BA61-F3C26BE3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7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5F3AB-20B4-4CC3-907E-98382B77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753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B45B6-49F2-4F85-83C0-80843465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934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5E4E2-57B0-4DFF-80C8-966FDDE7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151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3C9AB-34EB-4A0A-AAB0-2D8172A4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96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17064-F405-4E58-8C32-81933145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4771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B58F7-9BD7-4D3B-A29C-C6204F01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6581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6DC8C-E077-4E73-BA4A-F86B1DAC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6619875"/>
            <a:ext cx="21431" cy="21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76F28-BE22-4CEC-8812-569D41EB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6800850"/>
            <a:ext cx="21431" cy="21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4E7DE-1440-48DA-AF40-481C8D21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6981825"/>
            <a:ext cx="21431" cy="21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E27E2-3C3E-4918-95F9-438AA5AD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162800"/>
            <a:ext cx="21431" cy="21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78F05-61AE-4A55-8EBE-391D4E64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343775"/>
            <a:ext cx="21431" cy="21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8788D-3159-4612-AEB4-834FD81D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524750"/>
            <a:ext cx="21431" cy="21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4E82F-E22F-4304-843E-0AB7ECFB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705725"/>
            <a:ext cx="21431" cy="21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BFF3E-D452-4C69-8121-321D0816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667500"/>
            <a:ext cx="23813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7FCE2-DB0B-4778-B49A-BFE1728F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848475"/>
            <a:ext cx="23813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7CCF2-4D78-45A6-9CE2-9184BB59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7029450"/>
            <a:ext cx="23813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B4764-0D0F-4675-B873-955891AE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7210425"/>
            <a:ext cx="23813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CFF74A-D4BB-4045-835A-E67C53B5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7391400"/>
            <a:ext cx="23813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95D90-92E4-4B07-BD24-A72BDA8F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7572375"/>
            <a:ext cx="23813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A9D61-B62B-45AB-9EA7-5A0BB850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7753350"/>
            <a:ext cx="23813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A9250-99C9-4236-BA7E-9D9562B5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6715125"/>
            <a:ext cx="26194" cy="26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0D334B-DEE6-461B-BE37-65482186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6896100"/>
            <a:ext cx="26194" cy="26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4E49FC-E361-42BE-8DE3-539EF770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077075"/>
            <a:ext cx="26194" cy="26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C38C00-9CD3-4A93-B6DE-A379E1E0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258050"/>
            <a:ext cx="26194" cy="26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798F90-14EA-456A-A9BF-34972D37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439025"/>
            <a:ext cx="26194" cy="26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0C5E02-1E38-4AAC-B5B8-C2ED9ED2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620000"/>
            <a:ext cx="26194" cy="26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3D4524-66E7-4624-8208-02CDEA1A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800975"/>
            <a:ext cx="26194" cy="26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EF1D71-84C3-4660-BC94-8706ED98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6762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3584D1-CC90-416E-B422-7A7D5F41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69437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07B456-2DFC-4E28-A5AA-B8A0BDD2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1247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7C0B2E-0A5B-4315-BD7F-44C725BC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305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32ED5C-B4F2-4E8F-BA25-DA62AEA3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4866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C20831-CF4E-483E-960D-513C1B9F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6676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79DB10-94A1-446A-BC3A-28E93E40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8486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8B930B-35AE-4172-88A3-5646169F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810375"/>
            <a:ext cx="30956" cy="309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E47648-FE77-4853-BCB0-EEB8FF08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991350"/>
            <a:ext cx="30956" cy="309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6267B4-D7F8-48E5-96F5-B10D0B01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172325"/>
            <a:ext cx="30956" cy="309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063467-1E78-429F-B65C-46D2ACE8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353300"/>
            <a:ext cx="30956" cy="309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46E820-9611-4AFE-9834-082F6992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534275"/>
            <a:ext cx="30956" cy="309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ABDD8F-0E93-44B0-B647-A9E8479F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15250"/>
            <a:ext cx="30956" cy="309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77F957-9CC4-4A1E-9303-185D709D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896225"/>
            <a:ext cx="30956" cy="309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93AF5E-E4DE-4376-AC51-257B524A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6858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EA3FB8-DD13-41AE-BB4E-E488028A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7038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CDB4E8-5DC5-4177-B025-B49C5939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7219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58C956-302D-4B97-BE6C-1F720FA6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74009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BB7608-DCA1-4687-B1C7-17F90291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7581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934999-42A3-46D1-833A-B2E6EC71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77628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747A7D-A735-4CFA-994C-2231BDE8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794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7415F7-5AC7-4B59-8943-2CF1F8B2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6905625"/>
            <a:ext cx="35719" cy="35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B5E3CE-D6FD-4FF1-970B-D113B1CD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7086600"/>
            <a:ext cx="35719" cy="35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040EE3-617F-43FA-BC27-0CB23AB2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7267575"/>
            <a:ext cx="35719" cy="35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224B24-3774-4EB6-999B-6FC821DC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7448550"/>
            <a:ext cx="35719" cy="35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7AE6D5-897B-471F-8836-0A910A53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7629525"/>
            <a:ext cx="35719" cy="35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7CF58A-E3D7-4388-9641-F889BA8A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7810500"/>
            <a:ext cx="35719" cy="35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8C5A97-6BC9-4A75-8A70-5AA0190B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7991475"/>
            <a:ext cx="35719" cy="35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4AB2FD-B0CC-4D51-9EBD-88B9BF2C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953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B3F097-91F7-4D49-92F7-991EE795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1342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62B8FA-F537-4772-BAA7-8AF0B864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3152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2197938-001F-4DA6-BB48-2FB2999C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4961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5F2FB3-384A-41AA-8A08-AA32D1C8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677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89C0EB-DBB0-467A-B100-98DB8235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8581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B60801-390F-46D5-889F-25B3D084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8039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2F579F-834E-46CC-859D-A41701BF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0008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09F3B3-C9BF-4286-A42B-8A45E098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181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A683845-FC1D-4022-900A-BBA2EFB0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362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345833C-9447-433C-B1F7-AAEB92F7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5438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C358C2-1A4F-4B24-A4AD-ED17EDA6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7247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81E8D48-208B-4F50-898E-40DBF4AC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905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78FA385-6C47-491C-AEE5-B500E9E3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0867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132E5EB-64BB-4AFB-B518-6AA60C5B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0485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28C058F-0853-4023-9844-6D741D08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294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DA13421-56E7-4DF6-AA83-323E3E72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410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E912F9C-7AB1-4315-A5E2-1F0B2A94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5914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675EF4B-FA93-45A4-A5BF-C744B0CC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724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9C8831D-24C8-4DC8-972A-95834BFB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53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A6D9001-B8DE-4AB3-B11D-E6F07F3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8B05C09-0614-4DDD-817B-E2DE7A3C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70961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D07FCF6-8FE0-4AC9-AAB7-F08949B8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7277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7371BE3-A1FB-4E21-94F3-923EE8DC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74580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9A07507-5EE2-4319-9D06-EB85CD3A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76390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9137043-BB51-4288-BD36-A34AE424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78200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5DA27FA-D13B-4150-994A-01C9516F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8001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35D6BE4-9C58-449F-AAA9-54FFFAD1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81819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8E9CF79-5BAD-45E5-B8F9-50C0171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7143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13675B1-1057-4133-8E59-19573F04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73247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1815EF6-7688-4167-910B-FDC9BDB7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75057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B164211-3D5F-4759-8CA2-18E03897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76866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BED64C9-34A0-491C-B8BF-3C205BC3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78676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A9B7444-55CD-4743-867E-62AB4A2C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80486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1C57287-1ED6-4C7A-BB95-A7985AA0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82296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2"/>
          </a:solidFill>
          <a:ln xmlns:a="http://schemas.openxmlformats.org/drawingml/2006/main" w="0">
            <a:solidFill>
              <a:srgbClr val="FF7E4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EA1A783-761B-4EAD-8594-6A6EDE6B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29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62657"/>
                </a:solidFill>
              </a:defRPr>
            </a:pPr>
            <a:r>
              <a:rPr sz="3300" b="1" i="0">
                <a:solidFill>
                  <a:srgbClr val="062657"/>
                </a:solidFill>
              </a:rPr>
              <a:t>Insurance Slip Modeling - Field Extraction Flow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C680721-F31C-4E73-8CEA-107E011B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2381250" cy="51911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6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66467D3-FFFC-4B43-A51C-D8C49E50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F47"/>
          </a:solidFill>
          <a:ln xmlns:a="http://schemas.openxmlformats.org/drawingml/2006/main" w="0">
            <a:solidFill>
              <a:srgbClr val="001F4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7575A8-F624-4718-8554-EB12A19D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1. Input Documents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FD111FF-9A24-4B69-84FA-E40A9893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619375" cy="519112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E808F52-279F-4794-B0CA-928CED84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619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4D0A"/>
          </a:solidFill>
          <a:ln xmlns:a="http://schemas.openxmlformats.org/drawingml/2006/main" w="0">
            <a:solidFill>
              <a:srgbClr val="FB4D0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A2A18A1-7C69-4C5C-AE70-064AB0B3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00200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2. Document Processing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1C3AC71-E608-4D04-8484-93AA26B8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2619375" cy="519112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E1B62DF-DAE3-436D-9395-BAC33B51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2619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4D0A"/>
          </a:solidFill>
          <a:ln xmlns:a="http://schemas.openxmlformats.org/drawingml/2006/main" w="0">
            <a:solidFill>
              <a:srgbClr val="FB4D0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1359C3D-3219-441E-AC3F-36BFA806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00200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3. Embedding Generation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C24A325-0384-4B0E-B972-4E130D41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24000"/>
            <a:ext cx="2619375" cy="519112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EC155F3-2823-497D-ABF4-656DB752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24000"/>
            <a:ext cx="2619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4D0A"/>
          </a:solidFill>
          <a:ln xmlns:a="http://schemas.openxmlformats.org/drawingml/2006/main" w="0">
            <a:solidFill>
              <a:srgbClr val="FB4D0A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DFE37F6-A927-4F8F-B4AA-9F43EE6D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00200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4. Language Understanding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0A462ED-AD4E-4A51-B620-5C8F8164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524000"/>
            <a:ext cx="2476500" cy="519112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7C11922-7CD3-44DC-A56E-62EC041D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5240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4D0A"/>
          </a:solidFill>
          <a:ln xmlns:a="http://schemas.openxmlformats.org/drawingml/2006/main" w="0">
            <a:solidFill>
              <a:srgbClr val="FB4D0A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5F6F347-1EA3-465E-9171-1A40E77B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16002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5. Field Extraction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49FCA61-83B4-4311-B8D4-CFAB3FC0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622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62657"/>
                </a:solidFill>
              </a:defRPr>
            </a:pPr>
            <a:r>
              <a:rPr sz="1650" b="1" i="0">
                <a:solidFill>
                  <a:srgbClr val="062657"/>
                </a:solidFill>
              </a:rPr>
              <a:t>Insurance Slip</a:t>
            </a:r>
          </a:p>
          <a:p xmlns:a="http://schemas.openxmlformats.org/drawingml/2006/main">
            <a:pPr algn="ctr">
              <a:defRPr sz="1650" b="1" i="0">
                <a:solidFill>
                  <a:srgbClr val="062657"/>
                </a:solidFill>
              </a:defRPr>
            </a:pPr>
            <a:r>
              <a:rPr sz="1650" b="1" i="0">
                <a:solidFill>
                  <a:srgbClr val="062657"/>
                </a:solidFill>
              </a:rPr>
              <a:t>Documents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5E05533-16C4-43D9-999E-0601C83F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B4D0A"/>
                </a:solidFill>
              </a:defRPr>
            </a:pPr>
            <a:r>
              <a:rPr sz="1875" b="1" i="0">
                <a:solidFill>
                  <a:srgbClr val="FB4D0A"/>
                </a:solidFill>
              </a:rPr>
              <a:t>PDF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FE1B77D-70FD-45FA-A899-BE52D62C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543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62657"/>
                </a:solidFill>
              </a:defRPr>
            </a:pPr>
            <a:r>
              <a:rPr sz="1500" b="0" i="0">
                <a:solidFill>
                  <a:srgbClr val="062657"/>
                </a:solidFill>
              </a:rPr>
              <a:t>PDF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C431771-779D-41C2-9C01-211A9BE8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557A8"/>
                </a:solidFill>
              </a:defRPr>
            </a:pPr>
            <a:r>
              <a:rPr sz="2550" b="1" i="0">
                <a:solidFill>
                  <a:srgbClr val="1557A8"/>
                </a:solidFill>
              </a:rPr>
              <a:t>W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E0A33C6-4326-40DF-A1A1-FBEF5C92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053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62657"/>
                </a:solidFill>
              </a:defRPr>
            </a:pPr>
            <a:r>
              <a:rPr sz="1500" b="0" i="0">
                <a:solidFill>
                  <a:srgbClr val="062657"/>
                </a:solidFill>
              </a:rPr>
              <a:t>DOCX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A7401AA-A9B3-49C4-9663-4357842F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197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557A8"/>
                </a:solidFill>
              </a:defRPr>
            </a:pPr>
            <a:r>
              <a:rPr sz="2550" b="1" i="0">
                <a:solidFill>
                  <a:srgbClr val="1557A8"/>
                </a:solidFill>
              </a:rPr>
              <a:t>W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8F6EB3F-2A91-4482-8530-024514DA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7721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62657"/>
                </a:solidFill>
              </a:defRPr>
            </a:pPr>
            <a:r>
              <a:rPr sz="1500" b="0" i="0">
                <a:solidFill>
                  <a:srgbClr val="062657"/>
                </a:solidFill>
              </a:rPr>
              <a:t>DOC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69AEC96-8427-4E39-BE6A-585A8439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671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B4D0A"/>
          </a:solidFill>
          <a:ln xmlns:a="http://schemas.openxmlformats.org/drawingml/2006/main" w="0">
            <a:solidFill>
              <a:srgbClr val="FB4D0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CF78BFE-6CCC-4A22-8E10-AFE64A0B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110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0" b="1" i="0">
                <a:solidFill>
                  <a:srgbClr val="1487D4"/>
                </a:solidFill>
              </a:defRPr>
            </a:pPr>
            <a:r>
              <a:rPr sz="5850" b="1" i="0">
                <a:solidFill>
                  <a:srgbClr val="1487D4"/>
                </a:solidFill>
              </a:rPr>
              <a:t>A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00C55BA-1E11-4350-9884-32399FE2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Azure</a:t>
            </a:r>
          </a:p>
          <a:p xmlns:a="http://schemas.openxmlformats.org/drawingml/2006/main">
            <a:pPr algn="ctr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Document Intelligence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9CF13BE-6C96-4DE3-90A8-C8B10DF9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48250"/>
            <a:ext cx="204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B4D0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F87E1F1-3A45-4192-8A94-25259C7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34000"/>
            <a:ext cx="1628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062657"/>
                </a:solidFill>
              </a:defRPr>
            </a:pPr>
            <a:r>
              <a:rPr sz="1425" b="0" i="0">
                <a:solidFill>
                  <a:srgbClr val="062657"/>
                </a:solidFill>
              </a:rPr>
              <a:t>Extracts text, layout,</a:t>
            </a:r>
          </a:p>
          <a:p xmlns:a="http://schemas.openxmlformats.org/drawingml/2006/main">
            <a:pPr algn="ctr">
              <a:defRPr sz="1425" b="0" i="0">
                <a:solidFill>
                  <a:srgbClr val="062657"/>
                </a:solidFill>
              </a:defRPr>
            </a:pPr>
            <a:r>
              <a:rPr sz="1425" b="0" i="0">
                <a:solidFill>
                  <a:srgbClr val="062657"/>
                </a:solidFill>
              </a:rPr>
              <a:t>tables and structure</a:t>
            </a:r>
          </a:p>
          <a:p xmlns:a="http://schemas.openxmlformats.org/drawingml/2006/main">
            <a:pPr algn="ctr">
              <a:defRPr sz="1425" b="0" i="0">
                <a:solidFill>
                  <a:srgbClr val="062657"/>
                </a:solidFill>
              </a:defRPr>
            </a:pPr>
            <a:r>
              <a:rPr sz="1425" b="0" i="0">
                <a:solidFill>
                  <a:srgbClr val="062657"/>
                </a:solidFill>
              </a:rPr>
              <a:t>from documents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ADD9324-15E0-49F2-B4E3-7209AEF4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671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B4D0A"/>
          </a:solidFill>
          <a:ln xmlns:a="http://schemas.openxmlformats.org/drawingml/2006/main" w="0">
            <a:solidFill>
              <a:srgbClr val="FB4D0A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5D9B8CF-A7B4-49D9-8633-F9EE6CF3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557A8"/>
                </a:solidFill>
              </a:defRPr>
            </a:pPr>
            <a:r>
              <a:rPr sz="2025" b="1" i="0">
                <a:solidFill>
                  <a:srgbClr val="1557A8"/>
                </a:solidFill>
              </a:rPr>
              <a:t>OPENAI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9624D8C-0A46-4F99-A53A-916B6748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8600"/>
            <a:ext cx="1895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OpenAI</a:t>
            </a:r>
          </a:p>
          <a:p xmlns:a="http://schemas.openxmlformats.org/drawingml/2006/main">
            <a:pPr algn="ctr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Large Embedding</a:t>
            </a:r>
          </a:p>
          <a:p xmlns:a="http://schemas.openxmlformats.org/drawingml/2006/main">
            <a:pPr algn="ctr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Model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A572424-A67C-4B8B-B14F-8F408F85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204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B4D0A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D34A161-D72E-4049-B81E-43AD8443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34000"/>
            <a:ext cx="15906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062657"/>
                </a:solidFill>
              </a:defRPr>
            </a:pPr>
            <a:r>
              <a:rPr sz="1425" b="0" i="0">
                <a:solidFill>
                  <a:srgbClr val="062657"/>
                </a:solidFill>
              </a:rPr>
              <a:t>Converts processed</a:t>
            </a:r>
          </a:p>
          <a:p xmlns:a="http://schemas.openxmlformats.org/drawingml/2006/main">
            <a:pPr algn="ctr">
              <a:defRPr sz="1425" b="0" i="0">
                <a:solidFill>
                  <a:srgbClr val="062657"/>
                </a:solidFill>
              </a:defRPr>
            </a:pPr>
            <a:r>
              <a:rPr sz="1425" b="0" i="0">
                <a:solidFill>
                  <a:srgbClr val="062657"/>
                </a:solidFill>
              </a:rPr>
              <a:t>content into vector</a:t>
            </a:r>
          </a:p>
          <a:p xmlns:a="http://schemas.openxmlformats.org/drawingml/2006/main">
            <a:pPr algn="ctr">
              <a:defRPr sz="1425" b="0" i="0">
                <a:solidFill>
                  <a:srgbClr val="062657"/>
                </a:solidFill>
              </a:defRPr>
            </a:pPr>
            <a:r>
              <a:rPr sz="1425" b="0" i="0">
                <a:solidFill>
                  <a:srgbClr val="062657"/>
                </a:solidFill>
              </a:rPr>
              <a:t>embeddings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47D549D-9CAE-4081-B574-EB7B10DD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671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B4D0A"/>
          </a:solidFill>
          <a:ln xmlns:a="http://schemas.openxmlformats.org/drawingml/2006/main" w="0">
            <a:solidFill>
              <a:srgbClr val="FB4D0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FDF7276-907F-4946-AB7D-3C9F0369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8130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557A8"/>
                </a:solidFill>
              </a:defRPr>
            </a:pPr>
            <a:r>
              <a:rPr sz="2025" b="1" i="0">
                <a:solidFill>
                  <a:srgbClr val="1557A8"/>
                </a:solidFill>
              </a:rPr>
              <a:t>OPENAI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A1D4303-6427-4696-AE8F-3E25BC0B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57650"/>
            <a:ext cx="1895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OpenAI</a:t>
            </a:r>
          </a:p>
          <a:p xmlns:a="http://schemas.openxmlformats.org/drawingml/2006/main">
            <a:pPr algn="ctr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LLM (GPT Model)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27903B4-4950-4EAA-A257-24C64C09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48250"/>
            <a:ext cx="204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B4D0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F4741F3-671A-4D38-A0C1-1EE68412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34000"/>
            <a:ext cx="1666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062657"/>
                </a:solidFill>
              </a:defRPr>
            </a:pPr>
            <a:r>
              <a:rPr sz="1425" b="0" i="0">
                <a:solidFill>
                  <a:srgbClr val="062657"/>
                </a:solidFill>
              </a:rPr>
              <a:t>Understands context</a:t>
            </a:r>
          </a:p>
          <a:p xmlns:a="http://schemas.openxmlformats.org/drawingml/2006/main">
            <a:pPr algn="ctr">
              <a:defRPr sz="1425" b="0" i="0">
                <a:solidFill>
                  <a:srgbClr val="062657"/>
                </a:solidFill>
              </a:defRPr>
            </a:pPr>
            <a:r>
              <a:rPr sz="1425" b="0" i="0">
                <a:solidFill>
                  <a:srgbClr val="062657"/>
                </a:solidFill>
              </a:rPr>
              <a:t>and extracts required</a:t>
            </a:r>
          </a:p>
          <a:p xmlns:a="http://schemas.openxmlformats.org/drawingml/2006/main">
            <a:pPr algn="ctr">
              <a:defRPr sz="1425" b="0" i="0">
                <a:solidFill>
                  <a:srgbClr val="062657"/>
                </a:solidFill>
              </a:defRPr>
            </a:pPr>
            <a:r>
              <a:rPr sz="1425" b="0" i="0">
                <a:solidFill>
                  <a:srgbClr val="062657"/>
                </a:solidFill>
              </a:rPr>
              <a:t>information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242D01A-E92F-4420-84B0-B1CBD5B0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6671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B4D0A"/>
          </a:solidFill>
          <a:ln xmlns:a="http://schemas.openxmlformats.org/drawingml/2006/main" w="0">
            <a:solidFill>
              <a:srgbClr val="FB4D0A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C90F2CE-2AAE-42BB-8B7C-33E485B5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2400300"/>
            <a:ext cx="114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FB4D0A"/>
                </a:solidFill>
              </a:defRPr>
            </a:pPr>
            <a:r>
              <a:rPr sz="4050" b="1" i="0">
                <a:solidFill>
                  <a:srgbClr val="FB4D0A"/>
                </a:solidFill>
              </a:rPr>
              <a:t>☑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06CFD00-3092-4B80-B6E8-C1DB0375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Extracted Insurance</a:t>
            </a:r>
          </a:p>
          <a:p xmlns:a="http://schemas.openxmlformats.org/drawingml/2006/main">
            <a:pPr algn="ctr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Fields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71DD948-6820-48FD-8430-CED3B37F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4229100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B4D0A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F40D3FD-465A-4EDA-A74B-18E9DCF3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4419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20C6A69-5D45-45A9-A87C-71A2262F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429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62657"/>
                </a:solidFill>
              </a:defRPr>
            </a:pPr>
            <a:r>
              <a:rPr sz="1275" b="0" i="0">
                <a:solidFill>
                  <a:srgbClr val="062657"/>
                </a:solidFill>
              </a:rPr>
              <a:t>Policy Number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EC4A49D-E179-4DB6-B02D-9C794A0D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47053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B5BA5BF-A31B-4389-948F-2DA096CD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7148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62657"/>
                </a:solidFill>
              </a:defRPr>
            </a:pPr>
            <a:r>
              <a:rPr sz="1275" b="0" i="0">
                <a:solidFill>
                  <a:srgbClr val="062657"/>
                </a:solidFill>
              </a:rPr>
              <a:t>Insured Name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3AF73D6-918B-4034-8633-4AC73587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49911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FFC3AC0-5F3C-44DC-9A23-A5C52ECD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000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62657"/>
                </a:solidFill>
              </a:defRPr>
            </a:pPr>
            <a:r>
              <a:rPr sz="1275" b="0" i="0">
                <a:solidFill>
                  <a:srgbClr val="062657"/>
                </a:solidFill>
              </a:rPr>
              <a:t>Inception Date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A29F9C3-7EA0-467A-85A7-BE985604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5276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830CA46-A3CA-4E42-AE53-BE608DE7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286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62657"/>
                </a:solidFill>
              </a:defRPr>
            </a:pPr>
            <a:r>
              <a:rPr sz="1275" b="0" i="0">
                <a:solidFill>
                  <a:srgbClr val="062657"/>
                </a:solidFill>
              </a:rPr>
              <a:t>Expiration Date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7DCD1E1-74CE-4044-ACC9-B73E2BD4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5562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EAC663F-85AC-4DBC-AF7E-BC19D742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72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62657"/>
                </a:solidFill>
              </a:defRPr>
            </a:pPr>
            <a:r>
              <a:rPr sz="1275" b="0" i="0">
                <a:solidFill>
                  <a:srgbClr val="062657"/>
                </a:solidFill>
              </a:rPr>
              <a:t>Limits / Sum Insured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E1F5DF7-994E-4AD1-98EB-A993E834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58483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65AD775-8DD1-475E-8654-F06338BC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8578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62657"/>
                </a:solidFill>
              </a:defRPr>
            </a:pPr>
            <a:r>
              <a:rPr sz="1275" b="0" i="0">
                <a:solidFill>
                  <a:srgbClr val="062657"/>
                </a:solidFill>
              </a:rPr>
              <a:t>Perils / Coverage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7741204-54FC-48F9-9A82-F9614DA9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61341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0D08DCC-D610-46C8-9923-26AB4461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143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62657"/>
                </a:solidFill>
              </a:defRPr>
            </a:pPr>
            <a:r>
              <a:rPr sz="1275" b="0" i="0">
                <a:solidFill>
                  <a:srgbClr val="062657"/>
                </a:solidFill>
              </a:rPr>
              <a:t>Currency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16599B6-0800-4ED0-A836-1A372637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6419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B4D0A"/>
                </a:solidFill>
              </a:defRPr>
            </a:pPr>
            <a:r>
              <a:rPr sz="1650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2664A22-A09D-4AE7-B260-45B53829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429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62657"/>
                </a:solidFill>
              </a:defRPr>
            </a:pPr>
            <a:r>
              <a:rPr sz="1275" b="0" i="0">
                <a:solidFill>
                  <a:srgbClr val="062657"/>
                </a:solidFill>
              </a:rPr>
              <a:t>...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A213D58-6880-4068-8653-EECD878F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0"/>
            <a:ext cx="119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FB4D0A"/>
                </a:solidFill>
              </a:defRPr>
            </a:pPr>
            <a:r>
              <a:rPr sz="3525" b="1" i="0">
                <a:solidFill>
                  <a:srgbClr val="FB4D0A"/>
                </a:solidFill>
              </a:rPr>
              <a:t>EXL</a:t>
            </a:r>
          </a:p>
        </p:txBody>
      </p:sp>
    </p:spTree>
    <p:extLst>
      <p:ext uri="{BB962C8B-B14F-4D97-AF65-F5344CB8AC3E}">
        <p14:creationId xmlns:p14="http://schemas.microsoft.com/office/powerpoint/2010/main" val="1567651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2026-07-30T16:06:13.9010000Z</dcterms:created>
  <dcterms:modified xsi:type="dcterms:W3CDTF">2026-07-30T16:06:13.9010000Z</dcterms:modified>
</coreProperties>
</file>